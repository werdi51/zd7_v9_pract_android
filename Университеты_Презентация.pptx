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863" r:id="rId1"/>
  </p:sldMasterIdLst>
  <p:notesMasterIdLst>
    <p:notesMasterId r:id="rId14"/>
  </p:notesMasterIdLst>
  <p:sldIdLst>
    <p:sldId id="256" r:id="rId2"/>
    <p:sldId id="257" r:id="rId3"/>
    <p:sldId id="274" r:id="rId4"/>
    <p:sldId id="275" r:id="rId5"/>
    <p:sldId id="276" r:id="rId6"/>
    <p:sldId id="260" r:id="rId7"/>
    <p:sldId id="277" r:id="rId8"/>
    <p:sldId id="278" r:id="rId9"/>
    <p:sldId id="279" r:id="rId10"/>
    <p:sldId id="280" r:id="rId11"/>
    <p:sldId id="281" r:id="rId12"/>
    <p:sldId id="283" r:id="rId13"/>
  </p:sldIdLst>
  <p:sldSz cx="18288000" cy="10287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Century Gothic" panose="020B0502020202020204" pitchFamily="34" charset="0"/>
      <p:regular r:id="rId19"/>
      <p:bold r:id="rId20"/>
      <p:italic r:id="rId21"/>
      <p:boldItalic r:id="rId22"/>
    </p:embeddedFont>
    <p:embeddedFont>
      <p:font typeface="Wingdings 3" panose="05040102010807070707" pitchFamily="18" charset="2"/>
      <p:regular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7C71"/>
    <a:srgbClr val="3938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6283" autoAdjust="0"/>
  </p:normalViewPr>
  <p:slideViewPr>
    <p:cSldViewPr>
      <p:cViewPr>
        <p:scale>
          <a:sx n="50" d="100"/>
          <a:sy n="50" d="100"/>
        </p:scale>
        <p:origin x="660" y="1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A87EA7-9010-4B47-B062-09F36F19231E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9AC3DF-CE65-47BA-A523-97400956EF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9523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2433" y="2171701"/>
            <a:ext cx="13238487" cy="4994372"/>
          </a:xfrm>
        </p:spPr>
        <p:txBody>
          <a:bodyPr anchor="b"/>
          <a:lstStyle>
            <a:lvl1pPr>
              <a:defRPr sz="10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32433" y="7166070"/>
            <a:ext cx="13238487" cy="129213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43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099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5" y="4292600"/>
            <a:ext cx="13238486" cy="2873471"/>
          </a:xfrm>
        </p:spPr>
        <p:txBody>
          <a:bodyPr anchor="b"/>
          <a:lstStyle>
            <a:lvl1pPr algn="l">
              <a:defRPr sz="6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3" y="7166072"/>
            <a:ext cx="13238487" cy="1290600"/>
          </a:xfrm>
        </p:spPr>
        <p:txBody>
          <a:bodyPr anchor="t"/>
          <a:lstStyle>
            <a:lvl1pPr marL="0" indent="0" algn="l">
              <a:buNone/>
              <a:defRPr sz="3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502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54969" y="3090863"/>
            <a:ext cx="6594509" cy="6293645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81740" y="3084139"/>
            <a:ext cx="6594512" cy="6300368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786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4970" y="2857500"/>
            <a:ext cx="6594507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4969" y="3771900"/>
            <a:ext cx="6594509" cy="5612607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481743" y="2857500"/>
            <a:ext cx="6594509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481743" y="3771900"/>
            <a:ext cx="6594509" cy="5612607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04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50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09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2171700"/>
            <a:ext cx="5101595" cy="2171700"/>
          </a:xfrm>
        </p:spPr>
        <p:txBody>
          <a:bodyPr anchor="b"/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6925" y="2171700"/>
            <a:ext cx="7793996" cy="6858000"/>
          </a:xfrm>
        </p:spPr>
        <p:txBody>
          <a:bodyPr anchor="ctr">
            <a:normAutofit/>
          </a:bodyPr>
          <a:lstStyle>
            <a:lvl1pPr>
              <a:defRPr sz="30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3" y="4693921"/>
            <a:ext cx="5101593" cy="4343399"/>
          </a:xfrm>
        </p:spPr>
        <p:txBody>
          <a:bodyPr/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8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0861" y="2781288"/>
            <a:ext cx="7639359" cy="2362212"/>
          </a:xfrm>
        </p:spPr>
        <p:txBody>
          <a:bodyPr anchor="b">
            <a:normAutofit/>
          </a:bodyPr>
          <a:lstStyle>
            <a:lvl1pPr algn="l">
              <a:defRPr sz="5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24319" y="1714500"/>
            <a:ext cx="4800600" cy="6858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2" y="5486400"/>
            <a:ext cx="7627469" cy="2057400"/>
          </a:xfrm>
        </p:spPr>
        <p:txBody>
          <a:bodyPr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454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5" y="7200880"/>
            <a:ext cx="13238486" cy="85010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32433" y="1028699"/>
            <a:ext cx="13238487" cy="5461001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4" y="8050988"/>
            <a:ext cx="13238484" cy="74056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602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2171700"/>
            <a:ext cx="13238489" cy="2971800"/>
          </a:xfrm>
        </p:spPr>
        <p:txBody>
          <a:bodyPr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2" y="5486400"/>
            <a:ext cx="13238489" cy="3543300"/>
          </a:xfrm>
        </p:spPr>
        <p:txBody>
          <a:bodyPr anchor="ctr">
            <a:normAutofit/>
          </a:bodyPr>
          <a:lstStyle>
            <a:lvl1pPr marL="0" indent="0">
              <a:buNone/>
              <a:defRPr sz="27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6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2200" y="2171700"/>
            <a:ext cx="11998973" cy="3485061"/>
          </a:xfrm>
        </p:spPr>
        <p:txBody>
          <a:bodyPr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2895601" y="5656761"/>
            <a:ext cx="10919474" cy="513261"/>
          </a:xfrm>
        </p:spPr>
        <p:txBody>
          <a:bodyPr anchor="t">
            <a:normAutofit/>
          </a:bodyPr>
          <a:lstStyle>
            <a:lvl1pPr marL="0" indent="0">
              <a:buNone/>
              <a:defRPr lang="en-US" sz="21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2" y="6525986"/>
            <a:ext cx="13238489" cy="2514600"/>
          </a:xfrm>
        </p:spPr>
        <p:txBody>
          <a:bodyPr anchor="ctr">
            <a:normAutofit/>
          </a:bodyPr>
          <a:lstStyle>
            <a:lvl1pPr marL="0" indent="0">
              <a:buNone/>
              <a:defRPr sz="27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347443" y="1456880"/>
            <a:ext cx="1202868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3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5735" y="3920681"/>
            <a:ext cx="1202868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3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331750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4686302"/>
            <a:ext cx="13238489" cy="2479770"/>
          </a:xfrm>
        </p:spPr>
        <p:txBody>
          <a:bodyPr anchor="b"/>
          <a:lstStyle>
            <a:lvl1pPr algn="l">
              <a:defRPr sz="6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3" y="7166072"/>
            <a:ext cx="13238487" cy="1290600"/>
          </a:xfrm>
        </p:spPr>
        <p:txBody>
          <a:bodyPr anchor="t"/>
          <a:lstStyle>
            <a:lvl1pPr marL="0" indent="0" algn="l">
              <a:buNone/>
              <a:defRPr sz="3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7842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63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9421" y="2971800"/>
            <a:ext cx="4420299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978695" y="4000500"/>
            <a:ext cx="4391025" cy="5384007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5489" y="2971800"/>
            <a:ext cx="4404362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5809659" y="4000500"/>
            <a:ext cx="4420191" cy="5384007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10687051" y="2971800"/>
            <a:ext cx="4398170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10687051" y="4000500"/>
            <a:ext cx="4398170" cy="5384007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5589213" y="3200400"/>
            <a:ext cx="0" cy="59436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10443341" y="3200400"/>
            <a:ext cx="0" cy="5950323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5111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63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8695" y="6376424"/>
            <a:ext cx="4410075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/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78695" y="3314700"/>
            <a:ext cx="4410075" cy="2286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978695" y="7240817"/>
            <a:ext cx="4410075" cy="988784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4063" y="6376424"/>
            <a:ext cx="4395788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/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5834062" y="3314700"/>
            <a:ext cx="4395788" cy="2286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5832033" y="7240816"/>
            <a:ext cx="4401609" cy="988784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10687051" y="6376424"/>
            <a:ext cx="4398170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/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10687049" y="3314700"/>
            <a:ext cx="4398170" cy="2286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10686863" y="7240813"/>
            <a:ext cx="4403996" cy="988784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5589213" y="3200400"/>
            <a:ext cx="0" cy="59436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10443341" y="3200400"/>
            <a:ext cx="0" cy="5950323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257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575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456319" y="645320"/>
            <a:ext cx="2628902" cy="8739188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8695" y="1331121"/>
            <a:ext cx="11134724" cy="805338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033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">
              <a:srgbClr val="002060">
                <a:lumMod val="54000"/>
              </a:srgbClr>
            </a:gs>
            <a:gs pos="0">
              <a:schemeClr val="bg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1" y="4004528"/>
            <a:ext cx="6053504" cy="628247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4338521"/>
            <a:ext cx="2283618" cy="35481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2913518" y="2514600"/>
            <a:ext cx="4229100" cy="42291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11999119" y="1"/>
            <a:ext cx="2405081" cy="171211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12913518" y="9144000"/>
            <a:ext cx="1490601" cy="1143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69167" y="679077"/>
            <a:ext cx="14107085" cy="210079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4969" y="3079378"/>
            <a:ext cx="13419812" cy="62932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5233459" y="2686052"/>
            <a:ext cx="1485899" cy="4571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65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13427360" y="4837946"/>
            <a:ext cx="5789693" cy="45720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5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528811" y="443594"/>
            <a:ext cx="1257299" cy="11515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42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4154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64" r:id="rId1"/>
    <p:sldLayoutId id="2147483865" r:id="rId2"/>
    <p:sldLayoutId id="2147483866" r:id="rId3"/>
    <p:sldLayoutId id="2147483867" r:id="rId4"/>
    <p:sldLayoutId id="2147483868" r:id="rId5"/>
    <p:sldLayoutId id="2147483869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  <p:sldLayoutId id="2147483876" r:id="rId13"/>
    <p:sldLayoutId id="2147483877" r:id="rId14"/>
    <p:sldLayoutId id="2147483878" r:id="rId15"/>
    <p:sldLayoutId id="2147483879" r:id="rId16"/>
    <p:sldLayoutId id="2147483880" r:id="rId17"/>
  </p:sldLayoutIdLst>
  <p:txStyles>
    <p:titleStyle>
      <a:lvl1pPr algn="l" defTabSz="685800" rtl="0" eaLnBrk="1" latinLnBrk="0" hangingPunct="1">
        <a:spcBef>
          <a:spcPct val="0"/>
        </a:spcBef>
        <a:buNone/>
        <a:defRPr sz="63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514350" indent="-51435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3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1114425" indent="-428625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7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714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4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2400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30861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37719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44577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5143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5829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814834" y="284142"/>
            <a:ext cx="14263366" cy="861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47"/>
              </a:lnSpc>
            </a:pPr>
            <a:r>
              <a:rPr lang="en-US" sz="2533" spc="50" dirty="0">
                <a:solidFill>
                  <a:srgbClr val="F0F0EE">
                    <a:alpha val="66667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СВЕРДЛОВСКОЙ ОБЛАСТИ</a:t>
            </a:r>
          </a:p>
          <a:p>
            <a:pPr>
              <a:lnSpc>
                <a:spcPts val="3547"/>
              </a:lnSpc>
            </a:pPr>
            <a:r>
              <a:rPr lang="en-US" sz="2533" spc="50" dirty="0">
                <a:solidFill>
                  <a:srgbClr val="F0F0EE">
                    <a:alpha val="66667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ГАПОУ СО «ЕКАТЕРИНБУРГСКИЙ КОЛЛЕДЖ ТРАНСПОРТНОГО СТРОИТЕЛЬСТВА»</a:t>
            </a:r>
          </a:p>
        </p:txBody>
      </p:sp>
      <p:sp>
        <p:nvSpPr>
          <p:cNvPr id="6" name="AutoShape 6"/>
          <p:cNvSpPr/>
          <p:nvPr/>
        </p:nvSpPr>
        <p:spPr>
          <a:xfrm>
            <a:off x="0" y="233162"/>
            <a:ext cx="1593814" cy="1862337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7" name="TextBox 7"/>
          <p:cNvSpPr txBox="1"/>
          <p:nvPr/>
        </p:nvSpPr>
        <p:spPr>
          <a:xfrm>
            <a:off x="1814834" y="2651126"/>
            <a:ext cx="14568166" cy="3885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0123"/>
              </a:lnSpc>
            </a:pPr>
            <a:r>
              <a:rPr lang="ru-RU" sz="9600" spc="-414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приложение для База данных «Университеты</a:t>
            </a:r>
          </a:p>
          <a:p>
            <a:pPr>
              <a:lnSpc>
                <a:spcPts val="10123"/>
              </a:lnSpc>
            </a:pPr>
            <a:r>
              <a:rPr lang="ru-RU" sz="9600" spc="-414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Белоруссии»</a:t>
            </a:r>
            <a:endParaRPr lang="en-US" sz="9600" spc="-414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285873" y="537501"/>
            <a:ext cx="1022067" cy="1289476"/>
            <a:chOff x="0" y="0"/>
            <a:chExt cx="1362756" cy="1719301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2" cstate="print"/>
            <a:srcRect t="10179" b="10179"/>
            <a:stretch>
              <a:fillRect/>
            </a:stretch>
          </p:blipFill>
          <p:spPr>
            <a:xfrm>
              <a:off x="0" y="0"/>
              <a:ext cx="1362756" cy="1719301"/>
            </a:xfrm>
            <a:prstGeom prst="rect">
              <a:avLst/>
            </a:prstGeom>
          </p:spPr>
        </p:pic>
      </p:grpSp>
      <p:sp>
        <p:nvSpPr>
          <p:cNvPr id="10" name="TextBox 10"/>
          <p:cNvSpPr txBox="1"/>
          <p:nvPr/>
        </p:nvSpPr>
        <p:spPr>
          <a:xfrm>
            <a:off x="285873" y="8182942"/>
            <a:ext cx="9831178" cy="1845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9"/>
              </a:lnSpc>
              <a:spcBef>
                <a:spcPct val="0"/>
              </a:spcBef>
            </a:pPr>
            <a:r>
              <a:rPr lang="en-US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Работу</a:t>
            </a:r>
            <a:r>
              <a:rPr lang="en-US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ru-RU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Хворенков</a:t>
            </a:r>
            <a:r>
              <a:rPr lang="ru-RU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Антон</a:t>
            </a:r>
            <a:endParaRPr lang="en-US" sz="267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3739"/>
              </a:lnSpc>
              <a:spcBef>
                <a:spcPct val="0"/>
              </a:spcBef>
            </a:pPr>
            <a:r>
              <a:rPr lang="en-US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r>
              <a:rPr lang="en-US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Мирошниченко Г.В.</a:t>
            </a:r>
            <a:endParaRPr lang="en-US" sz="267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3739"/>
              </a:lnSpc>
              <a:spcBef>
                <a:spcPct val="0"/>
              </a:spcBef>
            </a:pPr>
            <a:r>
              <a:rPr lang="en-US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Группа</a:t>
            </a:r>
            <a:r>
              <a:rPr lang="en-US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Пр-3</a:t>
            </a:r>
            <a:r>
              <a:rPr lang="ru-RU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sz="267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3739"/>
              </a:lnSpc>
              <a:spcBef>
                <a:spcPct val="0"/>
              </a:spcBef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479103" y="805503"/>
            <a:ext cx="11329791" cy="977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27"/>
              </a:lnSpc>
            </a:pPr>
            <a:r>
              <a:rPr lang="en-US" sz="6843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 </a:t>
            </a:r>
            <a:r>
              <a:rPr lang="en-US" sz="6843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разработке</a:t>
            </a:r>
            <a:endParaRPr lang="en-US" sz="6843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703905" y="2106714"/>
            <a:ext cx="14988705" cy="3026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4"/>
              </a:lnSpc>
            </a:pPr>
            <a:r>
              <a:rPr lang="ru-RU" sz="3424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предназначена для предоставления информации об университетах Беларуси. Продукт позволяет увидеть список университетов, их сайты и области. Данная разработка — это программный комплекс, предназначенный для отслеживания информации об университетах, специальностях, студентах и преподавателях.</a:t>
            </a:r>
            <a:endParaRPr lang="en-US" sz="3424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2532850" y="8711347"/>
            <a:ext cx="3842667" cy="546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ru-RU" sz="320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Запись данных</a:t>
            </a:r>
            <a:endParaRPr lang="en-US" sz="320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256102" y="8711347"/>
            <a:ext cx="3842667" cy="546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</a:t>
            </a:r>
            <a:r>
              <a:rPr lang="ru-RU" sz="320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ролей</a:t>
            </a:r>
            <a:endParaRPr lang="en-US" sz="320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000177" y="8711347"/>
            <a:ext cx="3842667" cy="546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Картотека</a:t>
            </a:r>
            <a:endParaRPr lang="en-US" sz="320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Рисунок 19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B9D9DE7-6A45-8F27-F332-F0ECB1E0D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383" y="5780927"/>
            <a:ext cx="2895600" cy="28956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</p:pic>
      <p:pic>
        <p:nvPicPr>
          <p:cNvPr id="22" name="Рисунок 21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1DD32DD-9346-58DA-AD3E-E7D7EE259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199" y="5780924"/>
            <a:ext cx="2895601" cy="2895601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</p:pic>
      <p:pic>
        <p:nvPicPr>
          <p:cNvPr id="24" name="Рисунок 23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2AF99E0-8CAF-2CE9-173D-04D3AE2E1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3709" y="5828445"/>
            <a:ext cx="2895602" cy="289560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E97D-2B74-F5D1-7BE1-42140159A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A873AD3-1172-2916-BB37-02690CCE1934}"/>
              </a:ext>
            </a:extLst>
          </p:cNvPr>
          <p:cNvSpPr txBox="1"/>
          <p:nvPr/>
        </p:nvSpPr>
        <p:spPr>
          <a:xfrm>
            <a:off x="5295900" y="723900"/>
            <a:ext cx="7696200" cy="1040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510"/>
              </a:lnSpc>
            </a:pPr>
            <a:r>
              <a:rPr lang="en-US" sz="6600" spc="-17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</a:t>
            </a:r>
            <a:r>
              <a:rPr lang="en-US" sz="6600" spc="-17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6600" spc="-17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en-US" sz="6600" spc="-17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600" spc="-17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</a:t>
            </a:r>
            <a:endParaRPr lang="en-US" sz="6600" spc="-17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9A28849-594F-2E66-BC09-B28F5078327A}"/>
              </a:ext>
            </a:extLst>
          </p:cNvPr>
          <p:cNvSpPr txBox="1"/>
          <p:nvPr/>
        </p:nvSpPr>
        <p:spPr>
          <a:xfrm>
            <a:off x="1860646" y="4152900"/>
            <a:ext cx="10677625" cy="44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ct val="0"/>
              </a:spcBef>
            </a:pP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актуальную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информацию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области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данной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en-US" sz="2687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4299F8E6-E49B-663E-F1C7-FE3D1B2EF351}"/>
              </a:ext>
            </a:extLst>
          </p:cNvPr>
          <p:cNvSpPr txBox="1"/>
          <p:nvPr/>
        </p:nvSpPr>
        <p:spPr>
          <a:xfrm>
            <a:off x="1860646" y="4952764"/>
            <a:ext cx="10677625" cy="44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ct val="0"/>
              </a:spcBef>
            </a:pP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разработки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программного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продукта</a:t>
            </a:r>
            <a:endParaRPr lang="en-US" sz="2687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97F01FD7-C3B1-8638-2C11-D649C039138B}"/>
              </a:ext>
            </a:extLst>
          </p:cNvPr>
          <p:cNvSpPr txBox="1"/>
          <p:nvPr/>
        </p:nvSpPr>
        <p:spPr>
          <a:xfrm>
            <a:off x="1860646" y="5700793"/>
            <a:ext cx="10677625" cy="44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ct val="0"/>
              </a:spcBef>
            </a:pP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наиболее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удобный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дизайн</a:t>
            </a:r>
            <a:endParaRPr lang="en-US" sz="2687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736C4364-7B97-2ACE-5BE7-B8A81E3F65B2}"/>
              </a:ext>
            </a:extLst>
          </p:cNvPr>
          <p:cNvSpPr txBox="1"/>
          <p:nvPr/>
        </p:nvSpPr>
        <p:spPr>
          <a:xfrm>
            <a:off x="1860646" y="6387727"/>
            <a:ext cx="10677625" cy="446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ct val="0"/>
              </a:spcBef>
            </a:pP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Учесть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к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задаче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подобранный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</a:t>
            </a:r>
            <a:endParaRPr lang="en-US" sz="2687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15">
            <a:extLst>
              <a:ext uri="{FF2B5EF4-FFF2-40B4-BE49-F238E27FC236}">
                <a16:creationId xmlns:a16="http://schemas.microsoft.com/office/drawing/2014/main" id="{5148B9C7-C074-2476-4352-4114FDDDE927}"/>
              </a:ext>
            </a:extLst>
          </p:cNvPr>
          <p:cNvGrpSpPr/>
          <p:nvPr/>
        </p:nvGrpSpPr>
        <p:grpSpPr>
          <a:xfrm>
            <a:off x="1506516" y="4301021"/>
            <a:ext cx="200025" cy="200025"/>
            <a:chOff x="0" y="0"/>
            <a:chExt cx="1913890" cy="1913890"/>
          </a:xfrm>
        </p:grpSpPr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3EA8B6CF-7ECC-3E12-36BC-C5E3AA8E3FAF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9" name="Group 17">
            <a:extLst>
              <a:ext uri="{FF2B5EF4-FFF2-40B4-BE49-F238E27FC236}">
                <a16:creationId xmlns:a16="http://schemas.microsoft.com/office/drawing/2014/main" id="{1CF501A9-B2D9-0A88-0394-6D2C14CCFF8E}"/>
              </a:ext>
            </a:extLst>
          </p:cNvPr>
          <p:cNvGrpSpPr/>
          <p:nvPr/>
        </p:nvGrpSpPr>
        <p:grpSpPr>
          <a:xfrm>
            <a:off x="1506516" y="5100885"/>
            <a:ext cx="200025" cy="200025"/>
            <a:chOff x="0" y="0"/>
            <a:chExt cx="1913890" cy="1913890"/>
          </a:xfrm>
        </p:grpSpPr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3A844F5B-A91C-736B-8F88-AFB6548BA3CF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21" name="Group 19">
            <a:extLst>
              <a:ext uri="{FF2B5EF4-FFF2-40B4-BE49-F238E27FC236}">
                <a16:creationId xmlns:a16="http://schemas.microsoft.com/office/drawing/2014/main" id="{9855752D-B530-9A91-5251-02A8DEE0389D}"/>
              </a:ext>
            </a:extLst>
          </p:cNvPr>
          <p:cNvGrpSpPr/>
          <p:nvPr/>
        </p:nvGrpSpPr>
        <p:grpSpPr>
          <a:xfrm>
            <a:off x="1506516" y="5848914"/>
            <a:ext cx="200025" cy="200025"/>
            <a:chOff x="0" y="0"/>
            <a:chExt cx="1913890" cy="1913890"/>
          </a:xfrm>
        </p:grpSpPr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CD316AC5-0CF8-0E58-B8D2-FC6906A75BD2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23" name="Group 21">
            <a:extLst>
              <a:ext uri="{FF2B5EF4-FFF2-40B4-BE49-F238E27FC236}">
                <a16:creationId xmlns:a16="http://schemas.microsoft.com/office/drawing/2014/main" id="{1609C978-097B-3E84-9BB8-52A165FC27F1}"/>
              </a:ext>
            </a:extLst>
          </p:cNvPr>
          <p:cNvGrpSpPr/>
          <p:nvPr/>
        </p:nvGrpSpPr>
        <p:grpSpPr>
          <a:xfrm>
            <a:off x="1506516" y="6510821"/>
            <a:ext cx="200025" cy="200025"/>
            <a:chOff x="0" y="0"/>
            <a:chExt cx="1913890" cy="1913890"/>
          </a:xfrm>
        </p:grpSpPr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B4730172-BEEE-BEAC-4FC7-458CEB100B8A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E619F3-1826-439E-939B-7E7158A25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77800" y="5471232"/>
            <a:ext cx="4293279" cy="429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19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D26AA-B05D-C616-D5EA-D3801011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4">
            <a:extLst>
              <a:ext uri="{FF2B5EF4-FFF2-40B4-BE49-F238E27FC236}">
                <a16:creationId xmlns:a16="http://schemas.microsoft.com/office/drawing/2014/main" id="{D02D0700-B689-344F-79B5-FEE384998791}"/>
              </a:ext>
            </a:extLst>
          </p:cNvPr>
          <p:cNvSpPr txBox="1"/>
          <p:nvPr/>
        </p:nvSpPr>
        <p:spPr>
          <a:xfrm>
            <a:off x="2743200" y="2324100"/>
            <a:ext cx="7232119" cy="546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r>
              <a:rPr lang="en-US" sz="4200" spc="-84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ПРИВЛЕКАТЕЛЬНОСТЬ</a:t>
            </a:r>
          </a:p>
        </p:txBody>
      </p:sp>
      <p:sp>
        <p:nvSpPr>
          <p:cNvPr id="12" name="TextBox 15">
            <a:extLst>
              <a:ext uri="{FF2B5EF4-FFF2-40B4-BE49-F238E27FC236}">
                <a16:creationId xmlns:a16="http://schemas.microsoft.com/office/drawing/2014/main" id="{C818E71D-E4F2-C2C3-3341-94579CFA637E}"/>
              </a:ext>
            </a:extLst>
          </p:cNvPr>
          <p:cNvSpPr txBox="1"/>
          <p:nvPr/>
        </p:nvSpPr>
        <p:spPr>
          <a:xfrm>
            <a:off x="2758990" y="2838524"/>
            <a:ext cx="10525483" cy="1506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54"/>
              </a:lnSpc>
            </a:pP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Хороший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должен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быть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 отталкивающим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чтобы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доставлять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пользователю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удовольствие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работе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программным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продуктом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13" name="Group 16">
            <a:extLst>
              <a:ext uri="{FF2B5EF4-FFF2-40B4-BE49-F238E27FC236}">
                <a16:creationId xmlns:a16="http://schemas.microsoft.com/office/drawing/2014/main" id="{057E33B1-6FA4-349F-12C2-347B19A16662}"/>
              </a:ext>
            </a:extLst>
          </p:cNvPr>
          <p:cNvGrpSpPr/>
          <p:nvPr/>
        </p:nvGrpSpPr>
        <p:grpSpPr>
          <a:xfrm>
            <a:off x="2743200" y="4917163"/>
            <a:ext cx="8890199" cy="1735050"/>
            <a:chOff x="0" y="66675"/>
            <a:chExt cx="11853599" cy="2313400"/>
          </a:xfrm>
        </p:grpSpPr>
        <p:sp>
          <p:nvSpPr>
            <p:cNvPr id="14" name="TextBox 17">
              <a:extLst>
                <a:ext uri="{FF2B5EF4-FFF2-40B4-BE49-F238E27FC236}">
                  <a16:creationId xmlns:a16="http://schemas.microsoft.com/office/drawing/2014/main" id="{2AB7320C-C169-C614-9D3D-FACA145E3ED4}"/>
                </a:ext>
              </a:extLst>
            </p:cNvPr>
            <p:cNvSpPr txBox="1"/>
            <p:nvPr/>
          </p:nvSpPr>
          <p:spPr>
            <a:xfrm>
              <a:off x="0" y="66675"/>
              <a:ext cx="11853599" cy="728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</a:pPr>
              <a:r>
                <a:rPr lang="en-US" sz="4200" spc="-84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ЛАКОНИЧНОСТЬ И ПРОСТОТА</a:t>
              </a:r>
            </a:p>
          </p:txBody>
        </p:sp>
        <p:sp>
          <p:nvSpPr>
            <p:cNvPr id="15" name="TextBox 18">
              <a:extLst>
                <a:ext uri="{FF2B5EF4-FFF2-40B4-BE49-F238E27FC236}">
                  <a16:creationId xmlns:a16="http://schemas.microsoft.com/office/drawing/2014/main" id="{7D5EC8B7-016D-9549-1C28-6C5ED3852F08}"/>
                </a:ext>
              </a:extLst>
            </p:cNvPr>
            <p:cNvSpPr txBox="1"/>
            <p:nvPr/>
          </p:nvSpPr>
          <p:spPr>
            <a:xfrm>
              <a:off x="0" y="997484"/>
              <a:ext cx="11853599" cy="13825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</a:pP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Интерфейс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не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должен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быть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перегружен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лишней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информацией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grpSp>
        <p:nvGrpSpPr>
          <p:cNvPr id="16" name="Group 19">
            <a:extLst>
              <a:ext uri="{FF2B5EF4-FFF2-40B4-BE49-F238E27FC236}">
                <a16:creationId xmlns:a16="http://schemas.microsoft.com/office/drawing/2014/main" id="{9AF8DE73-AF21-A7EB-9D2E-DCB8C016A1B5}"/>
              </a:ext>
            </a:extLst>
          </p:cNvPr>
          <p:cNvGrpSpPr/>
          <p:nvPr/>
        </p:nvGrpSpPr>
        <p:grpSpPr>
          <a:xfrm>
            <a:off x="2758990" y="7205820"/>
            <a:ext cx="9565679" cy="2269435"/>
            <a:chOff x="0" y="66675"/>
            <a:chExt cx="12754239" cy="3025913"/>
          </a:xfrm>
        </p:grpSpPr>
        <p:sp>
          <p:nvSpPr>
            <p:cNvPr id="17" name="TextBox 20">
              <a:extLst>
                <a:ext uri="{FF2B5EF4-FFF2-40B4-BE49-F238E27FC236}">
                  <a16:creationId xmlns:a16="http://schemas.microsoft.com/office/drawing/2014/main" id="{19E793BE-3DA2-0C18-D1C6-453171452BD9}"/>
                </a:ext>
              </a:extLst>
            </p:cNvPr>
            <p:cNvSpPr txBox="1"/>
            <p:nvPr/>
          </p:nvSpPr>
          <p:spPr>
            <a:xfrm>
              <a:off x="0" y="66675"/>
              <a:ext cx="12754239" cy="728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</a:pPr>
              <a:r>
                <a:rPr lang="en-US" sz="4200" spc="-84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СИСТЕМАТИЗАЦИЯ</a:t>
              </a:r>
            </a:p>
          </p:txBody>
        </p:sp>
        <p:sp>
          <p:nvSpPr>
            <p:cNvPr id="25" name="TextBox 21">
              <a:extLst>
                <a:ext uri="{FF2B5EF4-FFF2-40B4-BE49-F238E27FC236}">
                  <a16:creationId xmlns:a16="http://schemas.microsoft.com/office/drawing/2014/main" id="{EA459FA2-B650-15F9-715D-BC04238F88EE}"/>
                </a:ext>
              </a:extLst>
            </p:cNvPr>
            <p:cNvSpPr txBox="1"/>
            <p:nvPr/>
          </p:nvSpPr>
          <p:spPr>
            <a:xfrm>
              <a:off x="0" y="997484"/>
              <a:ext cx="12754238" cy="20951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199"/>
                </a:lnSpc>
              </a:pP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Упрощения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и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автоматизации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операций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связанных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регистрацией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систематизаций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поиском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и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обработкой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000" spc="60" dirty="0" err="1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данных</a:t>
              </a:r>
              <a:endParaRPr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8" name="TextBox 3">
            <a:extLst>
              <a:ext uri="{FF2B5EF4-FFF2-40B4-BE49-F238E27FC236}">
                <a16:creationId xmlns:a16="http://schemas.microsoft.com/office/drawing/2014/main" id="{7A21B842-0083-9578-0AE9-816B5174B63E}"/>
              </a:ext>
            </a:extLst>
          </p:cNvPr>
          <p:cNvSpPr txBox="1"/>
          <p:nvPr/>
        </p:nvSpPr>
        <p:spPr>
          <a:xfrm>
            <a:off x="2971800" y="887504"/>
            <a:ext cx="11329791" cy="1040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10"/>
              </a:lnSpc>
            </a:pPr>
            <a:r>
              <a:rPr lang="ru-RU" sz="6600" spc="-17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Качества</a:t>
            </a:r>
            <a:endParaRPr lang="en-US" sz="6600" spc="-17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CE9D1CE-7A83-47A9-B0F8-633EC313B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25400" y="4859194"/>
            <a:ext cx="4914697" cy="4914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864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C8A24-6C17-A927-E74D-34FA4C7DB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4">
            <a:extLst>
              <a:ext uri="{FF2B5EF4-FFF2-40B4-BE49-F238E27FC236}">
                <a16:creationId xmlns:a16="http://schemas.microsoft.com/office/drawing/2014/main" id="{B5906854-CB70-9831-A1BC-5F22B013A84A}"/>
              </a:ext>
            </a:extLst>
          </p:cNvPr>
          <p:cNvSpPr txBox="1"/>
          <p:nvPr/>
        </p:nvSpPr>
        <p:spPr>
          <a:xfrm>
            <a:off x="2743200" y="2324100"/>
            <a:ext cx="7232119" cy="546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84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Navigation</a:t>
            </a:r>
          </a:p>
        </p:txBody>
      </p:sp>
      <p:sp>
        <p:nvSpPr>
          <p:cNvPr id="12" name="TextBox 15">
            <a:extLst>
              <a:ext uri="{FF2B5EF4-FFF2-40B4-BE49-F238E27FC236}">
                <a16:creationId xmlns:a16="http://schemas.microsoft.com/office/drawing/2014/main" id="{6794EF4E-9653-988C-6707-C36B1CAB1C6C}"/>
              </a:ext>
            </a:extLst>
          </p:cNvPr>
          <p:cNvSpPr txBox="1"/>
          <p:nvPr/>
        </p:nvSpPr>
        <p:spPr>
          <a:xfrm>
            <a:off x="2758990" y="2838524"/>
            <a:ext cx="11338010" cy="14955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95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 программе есть вариант выбора интерфейса в отображении карусели (</a:t>
            </a:r>
            <a:r>
              <a:rPr kumimoji="0" lang="ru-RU" sz="2824" b="0" i="0" u="none" strike="noStrike" kern="1200" cap="none" spc="56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Carousel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) — плавное </a:t>
            </a:r>
            <a:r>
              <a:rPr kumimoji="0" lang="ru-RU" sz="2824" b="0" i="0" u="none" strike="noStrike" kern="1200" cap="none" spc="56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горизональный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список,</a:t>
            </a:r>
            <a:r>
              <a:rPr kumimoji="0" lang="en-US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 обычный список, (</a:t>
            </a:r>
            <a:r>
              <a:rPr lang="en-US" sz="2824" spc="56" dirty="0" err="1">
                <a:solidFill>
                  <a:prstClr val="whit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RecyclerView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kumimoji="0" lang="en-US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плавный вертикальный список</a:t>
            </a:r>
            <a:endParaRPr kumimoji="0" lang="en-US" sz="2824" b="0" i="0" u="none" strike="noStrike" kern="1200" cap="none" spc="56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Group 16">
            <a:extLst>
              <a:ext uri="{FF2B5EF4-FFF2-40B4-BE49-F238E27FC236}">
                <a16:creationId xmlns:a16="http://schemas.microsoft.com/office/drawing/2014/main" id="{4B7E3D39-F259-AFAE-525F-0BECA305D4BC}"/>
              </a:ext>
            </a:extLst>
          </p:cNvPr>
          <p:cNvGrpSpPr/>
          <p:nvPr/>
        </p:nvGrpSpPr>
        <p:grpSpPr>
          <a:xfrm>
            <a:off x="2743200" y="4917163"/>
            <a:ext cx="8905989" cy="1543539"/>
            <a:chOff x="0" y="66675"/>
            <a:chExt cx="11874652" cy="2058051"/>
          </a:xfrm>
        </p:grpSpPr>
        <p:sp>
          <p:nvSpPr>
            <p:cNvPr id="14" name="TextBox 17">
              <a:extLst>
                <a:ext uri="{FF2B5EF4-FFF2-40B4-BE49-F238E27FC236}">
                  <a16:creationId xmlns:a16="http://schemas.microsoft.com/office/drawing/2014/main" id="{B2DA3FD2-3014-47F6-D2FA-AC41076A3094}"/>
                </a:ext>
              </a:extLst>
            </p:cNvPr>
            <p:cNvSpPr txBox="1"/>
            <p:nvPr/>
          </p:nvSpPr>
          <p:spPr>
            <a:xfrm>
              <a:off x="0" y="66675"/>
              <a:ext cx="11853599" cy="728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4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200" b="0" i="0" u="none" strike="noStrike" kern="1200" cap="none" spc="-84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ROOM</a:t>
              </a:r>
            </a:p>
          </p:txBody>
        </p:sp>
        <p:sp>
          <p:nvSpPr>
            <p:cNvPr id="15" name="TextBox 18">
              <a:extLst>
                <a:ext uri="{FF2B5EF4-FFF2-40B4-BE49-F238E27FC236}">
                  <a16:creationId xmlns:a16="http://schemas.microsoft.com/office/drawing/2014/main" id="{6317D2B4-64D7-3C1C-BCA3-45C780A61275}"/>
                </a:ext>
              </a:extLst>
            </p:cNvPr>
            <p:cNvSpPr txBox="1"/>
            <p:nvPr/>
          </p:nvSpPr>
          <p:spPr>
            <a:xfrm>
              <a:off x="21053" y="742136"/>
              <a:ext cx="11853599" cy="13825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4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000" b="0" i="0" u="none" strike="noStrike" kern="1200" cap="none" spc="6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Для хранения данных использована библиотека </a:t>
              </a:r>
              <a:r>
                <a:rPr kumimoji="0" lang="ru-RU" sz="3000" b="0" i="0" u="none" strike="noStrike" kern="1200" cap="none" spc="6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Room</a:t>
              </a:r>
              <a:endParaRPr kumimoji="0" lang="en-US" sz="3000" b="0" i="0" u="none" strike="noStrike" kern="1200" cap="none" spc="6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19">
            <a:extLst>
              <a:ext uri="{FF2B5EF4-FFF2-40B4-BE49-F238E27FC236}">
                <a16:creationId xmlns:a16="http://schemas.microsoft.com/office/drawing/2014/main" id="{5DC25186-0BD0-E919-9BD5-E62AD56E066C}"/>
              </a:ext>
            </a:extLst>
          </p:cNvPr>
          <p:cNvGrpSpPr/>
          <p:nvPr/>
        </p:nvGrpSpPr>
        <p:grpSpPr>
          <a:xfrm>
            <a:off x="2758990" y="6967298"/>
            <a:ext cx="9581469" cy="2081467"/>
            <a:chOff x="-21053" y="66675"/>
            <a:chExt cx="12775292" cy="2775289"/>
          </a:xfrm>
        </p:grpSpPr>
        <p:sp>
          <p:nvSpPr>
            <p:cNvPr id="17" name="TextBox 20">
              <a:extLst>
                <a:ext uri="{FF2B5EF4-FFF2-40B4-BE49-F238E27FC236}">
                  <a16:creationId xmlns:a16="http://schemas.microsoft.com/office/drawing/2014/main" id="{5A7D3442-B0CA-E9BD-D1A6-3979AD1C13B1}"/>
                </a:ext>
              </a:extLst>
            </p:cNvPr>
            <p:cNvSpPr txBox="1"/>
            <p:nvPr/>
          </p:nvSpPr>
          <p:spPr>
            <a:xfrm>
              <a:off x="0" y="66675"/>
              <a:ext cx="12754239" cy="728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4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200" b="0" i="0" u="none" strike="noStrike" kern="1200" cap="none" spc="-84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SPINNER</a:t>
              </a:r>
            </a:p>
          </p:txBody>
        </p:sp>
        <p:sp>
          <p:nvSpPr>
            <p:cNvPr id="25" name="TextBox 21">
              <a:extLst>
                <a:ext uri="{FF2B5EF4-FFF2-40B4-BE49-F238E27FC236}">
                  <a16:creationId xmlns:a16="http://schemas.microsoft.com/office/drawing/2014/main" id="{F0FFB409-D03F-81D7-CC76-950DDF9EA21B}"/>
                </a:ext>
              </a:extLst>
            </p:cNvPr>
            <p:cNvSpPr txBox="1"/>
            <p:nvPr/>
          </p:nvSpPr>
          <p:spPr>
            <a:xfrm>
              <a:off x="-21053" y="794908"/>
              <a:ext cx="12754239" cy="20470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41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000" b="0" i="0" u="none" strike="noStrike" kern="1200" cap="none" spc="6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Использование при регистрации для выбора варианта входа</a:t>
              </a:r>
              <a:endParaRPr kumimoji="0" lang="en-US" sz="2999" b="0" i="0" u="none" strike="noStrike" kern="1200" cap="none" spc="59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4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3">
            <a:extLst>
              <a:ext uri="{FF2B5EF4-FFF2-40B4-BE49-F238E27FC236}">
                <a16:creationId xmlns:a16="http://schemas.microsoft.com/office/drawing/2014/main" id="{95EE1E85-8E97-026D-4716-38293F46C90A}"/>
              </a:ext>
            </a:extLst>
          </p:cNvPr>
          <p:cNvSpPr txBox="1"/>
          <p:nvPr/>
        </p:nvSpPr>
        <p:spPr>
          <a:xfrm>
            <a:off x="2971800" y="887504"/>
            <a:ext cx="11329791" cy="1040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10"/>
              </a:lnSpc>
            </a:pPr>
            <a:r>
              <a:rPr lang="ru-RU" sz="6600" spc="-17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Инструменты</a:t>
            </a:r>
            <a:endParaRPr lang="en-US" sz="6600" spc="-17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4592068-E285-4EFD-AF32-A1D5580DA4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06400" y="5244091"/>
            <a:ext cx="43434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068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1357" y="2410261"/>
            <a:ext cx="6501443" cy="18030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0"/>
              </a:lnSpc>
            </a:pPr>
            <a:r>
              <a:rPr lang="en-US" sz="8800" spc="-175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Главное</a:t>
            </a:r>
            <a:r>
              <a:rPr lang="en-US" sz="8800" spc="-1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spc="-175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окно</a:t>
            </a:r>
            <a:endParaRPr lang="en-US" sz="8800" spc="-1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6600"/>
              </a:lnSpc>
            </a:pPr>
            <a:r>
              <a:rPr lang="en-US" sz="8800" spc="-175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программы</a:t>
            </a:r>
            <a:endParaRPr lang="en-US" sz="8800" spc="-1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86382" y="8261189"/>
            <a:ext cx="6651392" cy="20258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135"/>
              </a:lnSpc>
            </a:pP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lnSpc>
                <a:spcPts val="4135"/>
              </a:lnSpc>
            </a:pP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lang="en-US" sz="318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4135"/>
              </a:lnSpc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9"/>
          <p:cNvGrpSpPr/>
          <p:nvPr/>
        </p:nvGrpSpPr>
        <p:grpSpPr>
          <a:xfrm rot="-5400000">
            <a:off x="-1215158" y="1835972"/>
            <a:ext cx="3016856" cy="435217"/>
            <a:chOff x="0" y="0"/>
            <a:chExt cx="3961550" cy="571500"/>
          </a:xfrm>
        </p:grpSpPr>
        <p:sp>
          <p:nvSpPr>
            <p:cNvPr id="10" name="Freeform 10"/>
            <p:cNvSpPr/>
            <p:nvPr/>
          </p:nvSpPr>
          <p:spPr>
            <a:xfrm>
              <a:off x="0" y="255270"/>
              <a:ext cx="3961550" cy="69850"/>
            </a:xfrm>
            <a:custGeom>
              <a:avLst/>
              <a:gdLst/>
              <a:ahLst/>
              <a:cxnLst/>
              <a:rect l="l" t="t" r="r" b="b"/>
              <a:pathLst>
                <a:path w="3961550" h="69850">
                  <a:moveTo>
                    <a:pt x="367072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961550" y="69850"/>
                  </a:lnTo>
                  <a:lnTo>
                    <a:pt x="396155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293270" y="327544"/>
            <a:ext cx="2430370" cy="386455"/>
            <a:chOff x="0" y="0"/>
            <a:chExt cx="3594100" cy="571500"/>
          </a:xfrm>
        </p:grpSpPr>
        <p:sp>
          <p:nvSpPr>
            <p:cNvPr id="12" name="Freeform 12"/>
            <p:cNvSpPr/>
            <p:nvPr/>
          </p:nvSpPr>
          <p:spPr>
            <a:xfrm>
              <a:off x="0" y="255270"/>
              <a:ext cx="3594100" cy="69850"/>
            </a:xfrm>
            <a:custGeom>
              <a:avLst/>
              <a:gdLst/>
              <a:ahLst/>
              <a:cxnLst/>
              <a:rect l="l" t="t" r="r" b="b"/>
              <a:pathLst>
                <a:path w="3594100" h="69850">
                  <a:moveTo>
                    <a:pt x="330327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594100" y="69850"/>
                  </a:lnTo>
                  <a:lnTo>
                    <a:pt x="359410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2F263DA-581C-4982-8082-35CFC6235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3215" y="223879"/>
            <a:ext cx="4524474" cy="970667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70D5705-CE24-495B-8C35-FD6C1FF0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223880"/>
            <a:ext cx="4542117" cy="97066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B0CBF-C0B8-8FA4-A162-A570123C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BF1AA280-C093-810A-2ED3-89DA1493CE0C}"/>
              </a:ext>
            </a:extLst>
          </p:cNvPr>
          <p:cNvSpPr txBox="1"/>
          <p:nvPr/>
        </p:nvSpPr>
        <p:spPr>
          <a:xfrm>
            <a:off x="679287" y="1999197"/>
            <a:ext cx="5569114" cy="34384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8800" spc="-17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kumimoji="0" lang="en-US" sz="8800" b="0" i="0" u="none" strike="noStrike" kern="1200" cap="none" spc="-175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рограмм</a:t>
            </a: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а в разных </a:t>
            </a:r>
            <a:r>
              <a:rPr lang="ru-RU" sz="8800" spc="-17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</a:t>
            </a: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ровнях доступа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32D7A8B-DA9A-ACE7-CC0D-A9635E6DE327}"/>
              </a:ext>
            </a:extLst>
          </p:cNvPr>
          <p:cNvSpPr txBox="1"/>
          <p:nvPr/>
        </p:nvSpPr>
        <p:spPr>
          <a:xfrm>
            <a:off x="647910" y="8860249"/>
            <a:ext cx="10372552" cy="1500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kumimoji="0" lang="en-US" sz="3181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DEF4D749-DDFD-CB05-BEC0-7A61E8470F27}"/>
              </a:ext>
            </a:extLst>
          </p:cNvPr>
          <p:cNvSpPr txBox="1"/>
          <p:nvPr/>
        </p:nvSpPr>
        <p:spPr>
          <a:xfrm>
            <a:off x="679287" y="5399539"/>
            <a:ext cx="5950114" cy="10241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318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Разный функционал для разных ролей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B70CB27-4309-4B0E-BC45-51FB4E81E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781" y="209550"/>
            <a:ext cx="4558926" cy="98679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747974B-1486-451A-A1A0-BAA8AC1135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4949" y="209550"/>
            <a:ext cx="4551025" cy="986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61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476E-BA21-1ADE-5639-0BD22935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616BA55-DDCA-F5FE-3F6B-0C5F4B477C3B}"/>
              </a:ext>
            </a:extLst>
          </p:cNvPr>
          <p:cNvSpPr txBox="1"/>
          <p:nvPr/>
        </p:nvSpPr>
        <p:spPr>
          <a:xfrm>
            <a:off x="679286" y="1999197"/>
            <a:ext cx="6501443" cy="1779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записей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C5E7009-881B-6F2F-A0E9-3339AA21A68E}"/>
              </a:ext>
            </a:extLst>
          </p:cNvPr>
          <p:cNvSpPr txBox="1"/>
          <p:nvPr/>
        </p:nvSpPr>
        <p:spPr>
          <a:xfrm>
            <a:off x="647910" y="8860249"/>
            <a:ext cx="10372552" cy="1500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kumimoji="0" lang="en-US" sz="3181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10007DC3-3EB6-058F-F468-C93254D60D3C}"/>
              </a:ext>
            </a:extLst>
          </p:cNvPr>
          <p:cNvSpPr txBox="1"/>
          <p:nvPr/>
        </p:nvSpPr>
        <p:spPr>
          <a:xfrm>
            <a:off x="679286" y="3690527"/>
            <a:ext cx="5950114" cy="20672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Доступно два варианта получения информации, Обычный список с поиском или вариант с горизонтальным списком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16A5F73-9377-4693-91BA-FD5F18E3C7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8691" y="876300"/>
            <a:ext cx="4208923" cy="90297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B79BD9E-EE6F-46FC-BE02-29E74523277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3667" y="876300"/>
            <a:ext cx="4214381" cy="902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326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351C-2800-7D03-D886-F96451125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F5D345C-E9CF-D505-A5A1-A28369359F57}"/>
              </a:ext>
            </a:extLst>
          </p:cNvPr>
          <p:cNvSpPr txBox="1"/>
          <p:nvPr/>
        </p:nvSpPr>
        <p:spPr>
          <a:xfrm>
            <a:off x="679286" y="1485900"/>
            <a:ext cx="6501443" cy="1779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элементов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7F893F8-3F26-9480-55DB-2B26F21765B6}"/>
              </a:ext>
            </a:extLst>
          </p:cNvPr>
          <p:cNvSpPr txBox="1"/>
          <p:nvPr/>
        </p:nvSpPr>
        <p:spPr>
          <a:xfrm>
            <a:off x="457200" y="7906302"/>
            <a:ext cx="5950114" cy="2551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kumimoji="0" lang="en-US" sz="3181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2CC82314-75E4-DDBC-EB36-72ADA6057ABB}"/>
              </a:ext>
            </a:extLst>
          </p:cNvPr>
          <p:cNvSpPr txBox="1"/>
          <p:nvPr/>
        </p:nvSpPr>
        <p:spPr>
          <a:xfrm>
            <a:off x="647910" y="3303141"/>
            <a:ext cx="5950114" cy="11182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ru-RU" sz="3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добавлять удалять изменять элементы таблиц</a:t>
            </a:r>
            <a:endParaRPr lang="en-US" sz="32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87AC18B-F7FB-4B86-8154-0C215723B9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418" y="1504950"/>
            <a:ext cx="3831133" cy="80391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9468BE1-5F45-4D1C-9D0C-38C10AEDFC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2555" y="1504950"/>
            <a:ext cx="3793450" cy="80391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5443EF0-474D-4AA1-AE6D-152DF4615F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6955" y="1485900"/>
            <a:ext cx="3806012" cy="803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131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1416A-62D2-A1C1-A943-9C55C3C01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FF757A8-9F34-DD3C-6EBC-8977651884C7}"/>
              </a:ext>
            </a:extLst>
          </p:cNvPr>
          <p:cNvSpPr txBox="1"/>
          <p:nvPr/>
        </p:nvSpPr>
        <p:spPr>
          <a:xfrm>
            <a:off x="679286" y="1999197"/>
            <a:ext cx="6501443" cy="1779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Соединение логики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6E419AB-6F9B-9C7C-83A3-36C05129DBBF}"/>
              </a:ext>
            </a:extLst>
          </p:cNvPr>
          <p:cNvSpPr txBox="1"/>
          <p:nvPr/>
        </p:nvSpPr>
        <p:spPr>
          <a:xfrm>
            <a:off x="647910" y="8860249"/>
            <a:ext cx="10372552" cy="1497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kumimoji="0" lang="en-US" sz="3181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6E1AE9E1-3D46-7E66-2B6E-8555480E5245}"/>
              </a:ext>
            </a:extLst>
          </p:cNvPr>
          <p:cNvGrpSpPr/>
          <p:nvPr/>
        </p:nvGrpSpPr>
        <p:grpSpPr>
          <a:xfrm rot="-5400000">
            <a:off x="-1215158" y="1835972"/>
            <a:ext cx="3016856" cy="435217"/>
            <a:chOff x="0" y="0"/>
            <a:chExt cx="3961550" cy="5715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ED89B5E-5B1A-D8B1-A0D9-6CAAC84BABAD}"/>
                </a:ext>
              </a:extLst>
            </p:cNvPr>
            <p:cNvSpPr/>
            <p:nvPr/>
          </p:nvSpPr>
          <p:spPr>
            <a:xfrm>
              <a:off x="0" y="255270"/>
              <a:ext cx="3961550" cy="69850"/>
            </a:xfrm>
            <a:custGeom>
              <a:avLst/>
              <a:gdLst/>
              <a:ahLst/>
              <a:cxnLst/>
              <a:rect l="l" t="t" r="r" b="b"/>
              <a:pathLst>
                <a:path w="3961550" h="69850">
                  <a:moveTo>
                    <a:pt x="367072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961550" y="69850"/>
                  </a:lnTo>
                  <a:lnTo>
                    <a:pt x="396155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C7B8DD5D-413E-EDBB-20D6-B41A5756F8C2}"/>
              </a:ext>
            </a:extLst>
          </p:cNvPr>
          <p:cNvGrpSpPr/>
          <p:nvPr/>
        </p:nvGrpSpPr>
        <p:grpSpPr>
          <a:xfrm>
            <a:off x="293270" y="327544"/>
            <a:ext cx="2430370" cy="386455"/>
            <a:chOff x="0" y="0"/>
            <a:chExt cx="3594100" cy="5715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97F2420-E9BF-ADDB-4302-C8A1308AFA6C}"/>
                </a:ext>
              </a:extLst>
            </p:cNvPr>
            <p:cNvSpPr/>
            <p:nvPr/>
          </p:nvSpPr>
          <p:spPr>
            <a:xfrm>
              <a:off x="0" y="255270"/>
              <a:ext cx="3594100" cy="69850"/>
            </a:xfrm>
            <a:custGeom>
              <a:avLst/>
              <a:gdLst/>
              <a:ahLst/>
              <a:cxnLst/>
              <a:rect l="l" t="t" r="r" b="b"/>
              <a:pathLst>
                <a:path w="3594100" h="69850">
                  <a:moveTo>
                    <a:pt x="330327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594100" y="69850"/>
                  </a:lnTo>
                  <a:lnTo>
                    <a:pt x="359410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sp>
        <p:nvSpPr>
          <p:cNvPr id="15" name="TextBox 7">
            <a:extLst>
              <a:ext uri="{FF2B5EF4-FFF2-40B4-BE49-F238E27FC236}">
                <a16:creationId xmlns:a16="http://schemas.microsoft.com/office/drawing/2014/main" id="{6E649215-989A-FB6D-1C89-613E05714711}"/>
              </a:ext>
            </a:extLst>
          </p:cNvPr>
          <p:cNvSpPr txBox="1"/>
          <p:nvPr/>
        </p:nvSpPr>
        <p:spPr>
          <a:xfrm>
            <a:off x="679286" y="3690527"/>
            <a:ext cx="5950114" cy="1106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Назначение преподавателей на специальности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7178730-3E87-4C17-AB5F-CE819C127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7144" y="383084"/>
            <a:ext cx="4459848" cy="948273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3EDC2BC-165C-4E38-91C7-9462EB2858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4950" y="383084"/>
            <a:ext cx="4467255" cy="948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80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CCAB0-70C5-3463-8482-721B0153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F1F73D5-948C-51EB-BFE7-92F610B303B5}"/>
              </a:ext>
            </a:extLst>
          </p:cNvPr>
          <p:cNvSpPr txBox="1"/>
          <p:nvPr/>
        </p:nvSpPr>
        <p:spPr>
          <a:xfrm>
            <a:off x="381000" y="190500"/>
            <a:ext cx="7855114" cy="9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Форма студента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3">
            <a:extLst>
              <a:ext uri="{FF2B5EF4-FFF2-40B4-BE49-F238E27FC236}">
                <a16:creationId xmlns:a16="http://schemas.microsoft.com/office/drawing/2014/main" id="{462C7322-6668-3D94-8BD9-8E483C918632}"/>
              </a:ext>
            </a:extLst>
          </p:cNvPr>
          <p:cNvSpPr txBox="1"/>
          <p:nvPr/>
        </p:nvSpPr>
        <p:spPr>
          <a:xfrm>
            <a:off x="381000" y="2582239"/>
            <a:ext cx="7855114" cy="9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Форма учителя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3">
            <a:extLst>
              <a:ext uri="{FF2B5EF4-FFF2-40B4-BE49-F238E27FC236}">
                <a16:creationId xmlns:a16="http://schemas.microsoft.com/office/drawing/2014/main" id="{0FF993A3-A711-A58B-97AE-AD3DD1CAAA10}"/>
              </a:ext>
            </a:extLst>
          </p:cNvPr>
          <p:cNvSpPr txBox="1"/>
          <p:nvPr/>
        </p:nvSpPr>
        <p:spPr>
          <a:xfrm>
            <a:off x="381000" y="5332361"/>
            <a:ext cx="14941714" cy="9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Форма учитель-специальность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F1567E5-489C-41E7-B7EE-40B9E60A8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3064" y="1123256"/>
            <a:ext cx="10287000" cy="137044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D5E7B7F-A0B3-4D2A-B2BC-149C0F112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946" y="2950009"/>
            <a:ext cx="9023588" cy="192604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211FCF6-CEA9-4F5D-A4BE-5CA26144E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7865" y="6454436"/>
            <a:ext cx="4730398" cy="93275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4E367C7-99EB-46DF-BB0A-12575255DFA8}"/>
              </a:ext>
            </a:extLst>
          </p:cNvPr>
          <p:cNvSpPr txBox="1"/>
          <p:nvPr/>
        </p:nvSpPr>
        <p:spPr>
          <a:xfrm>
            <a:off x="625124" y="7886700"/>
            <a:ext cx="7226733" cy="1838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Форма университеты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1C90A5-2ACB-48BC-A56B-9963754510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00" y="7124700"/>
            <a:ext cx="8528570" cy="2891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02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E4A8F-2640-96D7-4C81-5664F86A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3999F96-6825-3AFE-6875-F02FD278A08C}"/>
              </a:ext>
            </a:extLst>
          </p:cNvPr>
          <p:cNvSpPr txBox="1"/>
          <p:nvPr/>
        </p:nvSpPr>
        <p:spPr>
          <a:xfrm>
            <a:off x="679286" y="1999197"/>
            <a:ext cx="6501443" cy="17456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Перспектива разработки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33455F57-35D1-5500-1DDB-584C1D49CAEB}"/>
              </a:ext>
            </a:extLst>
          </p:cNvPr>
          <p:cNvGrpSpPr/>
          <p:nvPr/>
        </p:nvGrpSpPr>
        <p:grpSpPr>
          <a:xfrm rot="-5400000">
            <a:off x="-1215158" y="1835972"/>
            <a:ext cx="3016856" cy="435217"/>
            <a:chOff x="0" y="0"/>
            <a:chExt cx="3961550" cy="5715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158AB9D-E868-2C41-D013-67E86E7E36F5}"/>
                </a:ext>
              </a:extLst>
            </p:cNvPr>
            <p:cNvSpPr/>
            <p:nvPr/>
          </p:nvSpPr>
          <p:spPr>
            <a:xfrm>
              <a:off x="0" y="255270"/>
              <a:ext cx="3961550" cy="69850"/>
            </a:xfrm>
            <a:custGeom>
              <a:avLst/>
              <a:gdLst/>
              <a:ahLst/>
              <a:cxnLst/>
              <a:rect l="l" t="t" r="r" b="b"/>
              <a:pathLst>
                <a:path w="3961550" h="69850">
                  <a:moveTo>
                    <a:pt x="367072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961550" y="69850"/>
                  </a:lnTo>
                  <a:lnTo>
                    <a:pt x="396155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CB7840AC-420E-D4F8-1C3D-6A0A83B4D4CA}"/>
              </a:ext>
            </a:extLst>
          </p:cNvPr>
          <p:cNvGrpSpPr/>
          <p:nvPr/>
        </p:nvGrpSpPr>
        <p:grpSpPr>
          <a:xfrm>
            <a:off x="293270" y="327544"/>
            <a:ext cx="2430370" cy="386455"/>
            <a:chOff x="0" y="0"/>
            <a:chExt cx="3594100" cy="5715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C203037-F4CA-EDE6-99E8-FA1EF837AC51}"/>
                </a:ext>
              </a:extLst>
            </p:cNvPr>
            <p:cNvSpPr/>
            <p:nvPr/>
          </p:nvSpPr>
          <p:spPr>
            <a:xfrm>
              <a:off x="0" y="255270"/>
              <a:ext cx="3594100" cy="69850"/>
            </a:xfrm>
            <a:custGeom>
              <a:avLst/>
              <a:gdLst/>
              <a:ahLst/>
              <a:cxnLst/>
              <a:rect l="l" t="t" r="r" b="b"/>
              <a:pathLst>
                <a:path w="3594100" h="69850">
                  <a:moveTo>
                    <a:pt x="330327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594100" y="69850"/>
                  </a:lnTo>
                  <a:lnTo>
                    <a:pt x="359410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sp>
        <p:nvSpPr>
          <p:cNvPr id="30" name="TextBox 3">
            <a:extLst>
              <a:ext uri="{FF2B5EF4-FFF2-40B4-BE49-F238E27FC236}">
                <a16:creationId xmlns:a16="http://schemas.microsoft.com/office/drawing/2014/main" id="{A7C136B0-2A15-6DA8-D136-D2F8CBD4887D}"/>
              </a:ext>
            </a:extLst>
          </p:cNvPr>
          <p:cNvSpPr txBox="1"/>
          <p:nvPr/>
        </p:nvSpPr>
        <p:spPr>
          <a:xfrm>
            <a:off x="838200" y="4457700"/>
            <a:ext cx="17449800" cy="2539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57250" marR="0" lvl="0" indent="-85725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6000" b="0" i="0" u="none" strike="noStrike" kern="1200" cap="none" spc="-175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Оптимизация кода,</a:t>
            </a:r>
            <a:r>
              <a:rPr lang="ru-RU" sz="6000" spc="-1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редактирование базы данных</a:t>
            </a:r>
          </a:p>
          <a:p>
            <a:pPr marL="857250" marR="0" lvl="0" indent="-85725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6000" b="0" i="0" u="none" strike="noStrike" kern="1200" cap="none" spc="-175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функционала настройки интерфейса</a:t>
            </a:r>
          </a:p>
          <a:p>
            <a:pPr marL="857250" marR="0" lvl="0" indent="-85725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6000" spc="-1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Уведомления и напоминания</a:t>
            </a:r>
            <a:endParaRPr kumimoji="0" lang="ru-RU" sz="6000" b="0" i="0" u="none" strike="noStrike" kern="1200" cap="none" spc="-175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71CEEE4-6401-4F3D-B5E3-E4D82B7AF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411200" y="6019800"/>
            <a:ext cx="42672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8722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TM02836342[[fn=Ион]]</Template>
  <TotalTime>241</TotalTime>
  <Words>311</Words>
  <Application>Microsoft Office PowerPoint</Application>
  <PresentationFormat>Произвольный</PresentationFormat>
  <Paragraphs>59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Calibri</vt:lpstr>
      <vt:lpstr>Century Gothic</vt:lpstr>
      <vt:lpstr>Arial</vt:lpstr>
      <vt:lpstr>Wingdings 3</vt:lpstr>
      <vt:lpstr>Times New Roman</vt:lpstr>
      <vt:lpstr>Ион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Orange Frosted Music Brand Guidelines Presentation</dc:title>
  <dc:creator>pr305a01</dc:creator>
  <cp:lastModifiedBy>Werd 51</cp:lastModifiedBy>
  <cp:revision>26</cp:revision>
  <dcterms:created xsi:type="dcterms:W3CDTF">2006-08-16T00:00:00Z</dcterms:created>
  <dcterms:modified xsi:type="dcterms:W3CDTF">2025-12-18T17:12:52Z</dcterms:modified>
  <dc:identifier>DADq6QgwR64</dc:identifier>
</cp:coreProperties>
</file>